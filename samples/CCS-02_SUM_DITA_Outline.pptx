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proposal for how the CCS SUM could be structured if the program adopts DITA.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in the topic pool is written for one book only. Every value that changes per release lives in keydefs.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is highlighted because most of the SUM, especially Section 5, is task topics.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5.6 uses troubleshooting topics; emergencies lead with a WARNING. 5.7 is a reference table per function. 5.8 conrefs steps from the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D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CCS Software User Manual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DITA-based outline: one source, MIL-STD-498 structure, per-platform builds.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Nathan B. Smith · September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9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CUI, classified, proprietary, or export-controlled information is contained in this document. Provided as a technical writing sample — Nathan B. Smith.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and its purpose in this outline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1887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63040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MIL-STD-498 DI-IPSC-81443A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463040"/>
            <a:ext cx="5166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required SUM section structure (Sections 1–6)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011680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DITA 1.3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011680"/>
            <a:ext cx="5166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types, bookmap, keys, conref, filtering attributes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560320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 Open Toolkit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560320"/>
            <a:ext cx="5166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build engine for PDF and HTML5 outputs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108960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DoDI 5200.48 (CUI)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108960"/>
            <a:ext cx="5166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 banners, designation block, portion markings in templates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657600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ASD-STE100 (optional)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657600"/>
            <a:ext cx="5166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Controlled-language rules for procedures, if adopted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206240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NAVAIR — CCS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474720" y="4206240"/>
            <a:ext cx="5166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context: common framework, UI, components across platforms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SUM · DITA outline · unclassified, public sources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 in one sentence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E0EFEE"/>
          </a:solidFill>
          <a:ln w="19050">
            <a:solidFill>
              <a:srgbClr val="0D6B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0058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DITA bookmap that follows the MIL-STD-498 SUM section for section, built from reusable topics and filtered per platform and audience at build time.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4023360" cy="713232"/>
          </a:xfrm>
          <a:prstGeom prst="roundRect">
            <a:avLst>
              <a:gd name="adj" fmla="val 7692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313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5786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per DI-IPSC-81443A unless the CDRL tailors it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2240280"/>
            <a:ext cx="4023360" cy="713232"/>
          </a:xfrm>
          <a:prstGeom prst="roundRect">
            <a:avLst>
              <a:gd name="adj" fmla="val 7692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28032" y="2313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core manual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28032" y="25786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content (MQ-25, MQ-4C, UUV) filtered, not separate books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023360" cy="713232"/>
          </a:xfrm>
          <a:prstGeom prst="roundRect">
            <a:avLst>
              <a:gd name="adj" fmla="val 7692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136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network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4015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CUI: PDF for the formal SUM, offline HTML5 for operators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3063240"/>
            <a:ext cx="4023360" cy="713232"/>
          </a:xfrm>
          <a:prstGeom prst="roundRect">
            <a:avLst>
              <a:gd name="adj" fmla="val 7692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28032" y="3136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toolchain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28032" y="34015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DITA-OT or a DITA-aware editor such as Oxygen, run on the program network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395935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content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" y="422452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map and repository. Filtering is not a security boundary.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SUM · DITA outline · unclassified, public sources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DITA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Bookmap → section submaps → shared topic pool → reuse library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0" y="123444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E0EFEE"/>
          </a:solidFill>
          <a:ln w="19050">
            <a:solidFill>
              <a:srgbClr val="0D6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46120" y="12893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ccs-sum.bookmap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5636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manual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3408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00-front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6151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notices, safety, TOC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06040" y="228600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E0EFEE"/>
          </a:solidFill>
          <a:ln w="19050">
            <a:solidFill>
              <a:srgbClr val="0D6B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23408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01…06 submaps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6151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SUM section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23408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back.ditamap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6151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appendixes, glossary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03720" y="228600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E0EFEE"/>
          </a:solidFill>
          <a:ln w="19050">
            <a:solidFill>
              <a:srgbClr val="0D6B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23408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keydefs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61518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version, names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11680" y="352044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E0EFEE"/>
          </a:solidFill>
          <a:ln w="19050">
            <a:solidFill>
              <a:srgbClr val="0D6B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057400" y="35753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 pool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057400" y="384962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task · reference · troubleshooting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77840" y="352044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E0EFEE"/>
          </a:solidFill>
          <a:ln w="19050">
            <a:solidFill>
              <a:srgbClr val="0D6B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23560" y="35753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reuse/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623560" y="384962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· ui-steps · marking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 flipH="1">
            <a:off x="1417320" y="1874520"/>
            <a:ext cx="3154680" cy="393192"/>
          </a:xfrm>
          <a:prstGeom prst="line">
            <a:avLst/>
          </a:prstGeom>
          <a:noFill/>
          <a:ln w="15875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H="1">
            <a:off x="3566160" y="1874520"/>
            <a:ext cx="1005840" cy="393192"/>
          </a:xfrm>
          <a:prstGeom prst="line">
            <a:avLst/>
          </a:prstGeom>
          <a:noFill/>
          <a:ln w="15875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72000" y="1874520"/>
            <a:ext cx="1143000" cy="393192"/>
          </a:xfrm>
          <a:prstGeom prst="line">
            <a:avLst/>
          </a:prstGeom>
          <a:noFill/>
          <a:ln w="15875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572000" y="1874520"/>
            <a:ext cx="3200400" cy="393192"/>
          </a:xfrm>
          <a:prstGeom prst="line">
            <a:avLst/>
          </a:prstGeom>
          <a:noFill/>
          <a:ln w="15875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566160" y="2990088"/>
            <a:ext cx="914" cy="512064"/>
          </a:xfrm>
          <a:prstGeom prst="line">
            <a:avLst/>
          </a:prstGeom>
          <a:noFill/>
          <a:ln w="15875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138928" y="3904488"/>
            <a:ext cx="420624" cy="914"/>
          </a:xfrm>
          <a:prstGeom prst="line">
            <a:avLst/>
          </a:prstGeom>
          <a:noFill/>
          <a:ln w="15875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5074920" y="36393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conref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SUM · DITA outline · unclassified, public sources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types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one actually is, and where it’s used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554480" cy="3200400"/>
          </a:xfrm>
          <a:prstGeom prst="roundRect">
            <a:avLst>
              <a:gd name="adj" fmla="val 3529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1732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3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82880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what something is and why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926080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18211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overview, operating concepts, modes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130552" y="1280160"/>
            <a:ext cx="1554480" cy="3200400"/>
          </a:xfrm>
          <a:prstGeom prst="roundRect">
            <a:avLst>
              <a:gd name="adj" fmla="val 3529"/>
            </a:avLst>
          </a:prstGeom>
          <a:solidFill>
            <a:srgbClr val="E0EFEE"/>
          </a:solidFill>
          <a:ln w="19050">
            <a:solidFill>
              <a:srgbClr val="0D6B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40280" y="141732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3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182880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steps to do one job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2926080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318211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operator procedure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03904" y="1280160"/>
            <a:ext cx="1554480" cy="3200400"/>
          </a:xfrm>
          <a:prstGeom prst="roundRect">
            <a:avLst>
              <a:gd name="adj" fmla="val 3529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13632" y="141732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3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913632" y="182880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Look-up facts in tables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13632" y="2926080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913632" y="318211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Menus, fields, messages, shortcuts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77256" y="1280160"/>
            <a:ext cx="1554480" cy="3200400"/>
          </a:xfrm>
          <a:prstGeom prst="roundRect">
            <a:avLst>
              <a:gd name="adj" fmla="val 3529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86984" y="141732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3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troubleshooting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586984" y="182880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→ cause → remedy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586984" y="2926080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586984" y="318211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Errors, malfunctions, recovery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50608" y="1280160"/>
            <a:ext cx="1554480" cy="3200400"/>
          </a:xfrm>
          <a:prstGeom prst="roundRect">
            <a:avLst>
              <a:gd name="adj" fmla="val 3529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60336" y="141732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3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glossentry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260336" y="182880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term, one definition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260336" y="2926080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260336" y="318211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Acronyms and terms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SUM · DITA outline · unclassified, public sources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Filtering, keys, and reuse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source becomes many manuals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1887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630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@platform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14630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mq25 · mq4c · uuv · all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4630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steps, screens, limits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865376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86537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@audience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1865376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 · supervisor · admin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186537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tasks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267712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26771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@product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226771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station-land · -ship · -sub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22677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Control-station differences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2670048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6700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@otherprops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194560" y="267004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release-x.y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26700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bars and VDD input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4747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3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keydefs.ditamap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7216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ccs-version, ccs-build, release date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42900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00600" y="34747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3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reuse/warnings.dita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800600" y="37216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WARNING, CAUTION, NOTE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087368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360" y="41330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3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reuse/ui-steps.dita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43799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in, open a function, save a plan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4087368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00600" y="41330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3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reuse/marking.dita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43799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 designation block, notices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3127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names: &lt;type&gt;_&lt;function&gt;_&lt;object&gt;.dita — e.g. t_mplan_create-route.dita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SUM · DITA outline · unclassified, public sources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 Sections 1–4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and access: who, what, and how to get 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1554480"/>
          </a:xfrm>
          <a:prstGeom prst="roundRect">
            <a:avLst>
              <a:gd name="adj" fmla="val 3529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44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Scope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9164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Identification [ref, keys]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System overview [concept]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Document overview [concept]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4023360" cy="1554480"/>
          </a:xfrm>
          <a:prstGeom prst="roundRect">
            <a:avLst>
              <a:gd name="adj" fmla="val 3529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28032" y="1344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Referenced documents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28032" y="169164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docs: SRS/IRS, VDD, related SUMs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and handbooks [reference]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3529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035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Software summary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338328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Application · 3.2 Inventory (from build manifest)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Environment · 3.4 Organization &amp; operation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Contingencies/modes · 3.6 Security · 3.7 Help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3529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28032" y="3035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Access to the software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338328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First-time user: equipment, accounts, install (admin)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Initiating a session [task]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Stopping and suspending work [task]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SUM · DITA outline · unclassified, public sources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5 — Processing reference guide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section: one submap per CCS function, nearly all task topics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120640" cy="676656"/>
          </a:xfrm>
          <a:prstGeom prst="roundRect">
            <a:avLst>
              <a:gd name="adj" fmla="val 8108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8930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5.3.1 Mission Planning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5270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mission, build route, waypoints and tasks, timing, deconfliction, validate, save/load, re-plan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120640" cy="676656"/>
          </a:xfrm>
          <a:prstGeom prst="roundRect">
            <a:avLst>
              <a:gd name="adj" fmla="val 8108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202082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5.3.2 Vehicle Management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258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link, preflight, launch, monitor health, change mode, maneuver, recover, transfer control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5120640" cy="676656"/>
          </a:xfrm>
          <a:prstGeom prst="roundRect">
            <a:avLst>
              <a:gd name="adj" fmla="val 8108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75234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5.3.3 Mission Management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29900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sensors, set priorities, monitor collection, route products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5120640" cy="411480"/>
          </a:xfrm>
          <a:prstGeom prst="roundRect">
            <a:avLst>
              <a:gd name="adj" fmla="val 13333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474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5.3.4 Airspace ops · 5.3.5 Messaging &amp; comms · 5.3.6 Sensor PED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@platform tags carry most of the platform differences here.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1234440"/>
            <a:ext cx="2834640" cy="3291840"/>
          </a:xfrm>
          <a:prstGeom prst="roundRect">
            <a:avLst>
              <a:gd name="adj" fmla="val 1935"/>
            </a:avLst>
          </a:prstGeom>
          <a:solidFill>
            <a:srgbClr val="0A3F44"/>
          </a:solidFill>
          <a:ln w="12700">
            <a:solidFill>
              <a:srgbClr val="0A3F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0" y="1371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D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SECTION 5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169164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Capabilities map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Conventions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Related processing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Data backup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 Errors &amp; emergencies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 Messages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 Quick-reference cards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SUM · DITA outline · unclassified, public sources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 matter, notes, and appendixes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wraps around the core sections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3246120"/>
          </a:xfrm>
          <a:prstGeom prst="roundRect">
            <a:avLst>
              <a:gd name="adj" fmla="val 2105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3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 matter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Cover: CUI block, distribution, version key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of changes from release attributes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summary conref’d from warnings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TOC and lists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234440"/>
            <a:ext cx="2606040" cy="3246120"/>
          </a:xfrm>
          <a:prstGeom prst="roundRect">
            <a:avLst>
              <a:gd name="adj" fmla="val 2105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3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Notes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78308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Acronyms and glossary (glossentry)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notes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234440"/>
            <a:ext cx="2606040" cy="3246120"/>
          </a:xfrm>
          <a:prstGeom prst="roundRect">
            <a:avLst>
              <a:gd name="adj" fmla="val 2105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3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78308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Platform supplements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Configuration file reference (admin)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Worked mission example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from indexterms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SUM · DITA outline · unclassified, public sources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source, five builds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bookmap, different DITAVAL file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188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DITAVAL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1887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132320" y="1188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402336"/>
          </a:xfrm>
          <a:prstGeom prst="roundRect">
            <a:avLst>
              <a:gd name="adj" fmla="val 13636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630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SUM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14630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core.ditaval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46304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platforms; operator + supervisor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46304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(CDRL)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82296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19202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MQ-25 edition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19202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mq25.ditaval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192024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+ mq25; operator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192024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HTML5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377440"/>
            <a:ext cx="8229600" cy="402336"/>
          </a:xfrm>
          <a:prstGeom prst="roundRect">
            <a:avLst>
              <a:gd name="adj" fmla="val 13636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3774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MQ-4C edition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286000" y="23774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mq4c.ditaval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237744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+ mq4c; operator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237744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HTML5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82296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28346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UUV edition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2286000" y="28346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uuv.ditaval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283464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+ uuv; operator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283464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HTML5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8229600" cy="402336"/>
          </a:xfrm>
          <a:prstGeom prst="roundRect">
            <a:avLst>
              <a:gd name="adj" fmla="val 13636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2918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admin guide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2286000" y="32918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admin.ditaval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023360" y="329184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4.1.3, 5.4, 5.5, App. B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329184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388620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391363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rules: </a:t>
            </a:r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keys must match the CM tag · change bars flag the current release · untagged topics are shared · CUI markings live in the templates, not the topics.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SUM · DITA outline · unclassified, public sources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3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 for the program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8FD3CF"/>
          </a:solidFill>
          <a:ln w="12700">
            <a:solidFill>
              <a:srgbClr val="8FD3C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25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DID and tailoring does the CDRL specify?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384048" cy="384048"/>
          </a:xfrm>
          <a:prstGeom prst="ellipse">
            <a:avLst/>
          </a:prstGeom>
          <a:solidFill>
            <a:srgbClr val="8FD3CF"/>
          </a:solidFill>
          <a:ln w="12700">
            <a:solidFill>
              <a:srgbClr val="8FD3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1325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authoring and build tools are approved on the program network?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384048" cy="384048"/>
          </a:xfrm>
          <a:prstGeom prst="ellipse">
            <a:avLst/>
          </a:prstGeom>
          <a:solidFill>
            <a:srgbClr val="8FD3CF"/>
          </a:solidFill>
          <a:ln w="12700">
            <a:solidFill>
              <a:srgbClr val="8FD3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2860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core SUM plus supplements, or per-platform editions?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663440" y="2331720"/>
            <a:ext cx="384048" cy="384048"/>
          </a:xfrm>
          <a:prstGeom prst="ellipse">
            <a:avLst/>
          </a:prstGeom>
          <a:solidFill>
            <a:srgbClr val="8FD3CF"/>
          </a:solidFill>
          <a:ln w="12700">
            <a:solidFill>
              <a:srgbClr val="8FD3C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2860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only, or offline HTML5 on the station too?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384048" cy="384048"/>
          </a:xfrm>
          <a:prstGeom prst="ellipse">
            <a:avLst/>
          </a:prstGeom>
          <a:solidFill>
            <a:srgbClr val="8FD3CF"/>
          </a:solidFill>
          <a:ln w="12700">
            <a:solidFill>
              <a:srgbClr val="8FD3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2461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build manifest for 3.2 come from?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663440" y="3291840"/>
            <a:ext cx="384048" cy="384048"/>
          </a:xfrm>
          <a:prstGeom prst="ellipse">
            <a:avLst/>
          </a:prstGeom>
          <a:solidFill>
            <a:srgbClr val="8FD3CF"/>
          </a:solidFill>
          <a:ln w="12700">
            <a:solidFill>
              <a:srgbClr val="8FD3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32461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ASD-STE100 or another controlled language required?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9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CUI, classified, proprietary, or export-controlled information is contained in this document. Provided as a technical writing sample — Nathan B. Smith.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CCS Software User Manual — DITA Outline</dc:title>
  <dc:subject>PptxGenJS Presentation</dc:subject>
  <dc:creator>Nathan B. Smith</dc:creator>
  <cp:lastModifiedBy>Nathan B. Smith</cp:lastModifiedBy>
  <cp:revision>1</cp:revision>
  <dcterms:created xsi:type="dcterms:W3CDTF">2026-09-23T22:16:51Z</dcterms:created>
  <dcterms:modified xsi:type="dcterms:W3CDTF">2026-09-23T22:16:51Z</dcterms:modified>
</cp:coreProperties>
</file>