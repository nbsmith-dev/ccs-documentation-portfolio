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Feynman version: the SUM is the textbook; the How-To is the recipe card taped to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25 guides. Contingency guides get priority for review because they are used under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DITA these map to title, prolog/applicability via keys and filtering, prereq, steps, result, related-links.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CCS How-To Guides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job, start to finish, at the control station — built from the same DITA topics as the SUM.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B. Smith · September 2026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and its purpose in this plan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188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DITA 1.3 — task topic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46304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step structure every How-To uses (prereq, steps, result)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MIL-STD-498 SUM DID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Section 5.3 procedures are the source the guides are cut from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ASD-STE100 (optional)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56032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Controlled-language rules: one instruction per step, approved verbs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0896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DoDI 5200.48 (CUI)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10896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Markings on every printed card and HTML5 page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5760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SUM DITA outline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65760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plan: shared topic pool, filtering attributes, build rules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0624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— CCS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4206240"/>
            <a:ext cx="5166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context: functions and platforms the guides cover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vs. How-To Guide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content, different job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188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1508760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5087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reference for the software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508760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50876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task done right now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1226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moment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0" y="2112264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21122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looking something 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112264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6440" y="2112264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station, mid-mission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1576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2715768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80360" y="271576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function, mode, message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2715768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2715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start to finish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31927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319272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3319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3319272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331927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pages per guide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227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743200" y="3922776"/>
            <a:ext cx="2743200" cy="512064"/>
          </a:xfrm>
          <a:prstGeom prst="roundRect">
            <a:avLst>
              <a:gd name="adj" fmla="val 10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392277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CDRL (PDF)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0" y="3922776"/>
            <a:ext cx="3017520" cy="512064"/>
          </a:xfrm>
          <a:prstGeom prst="roundRect">
            <a:avLst>
              <a:gd name="adj" fmla="val 10714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06440" y="3922776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HTML5 + printable task cards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once, publish twice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Guides reuse the SUM’s task topics — no second copy to keep in sync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topic pool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t_mplan_create-route.dita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t_vmgmt_establish-link.dita 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1353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ccs-sum.bookmap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1645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tasks, in SUM order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292608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3320" y="2999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howto-*.ditamap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map per guide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128016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(PDF)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deliverable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Guides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task cards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2852928" y="1691640"/>
            <a:ext cx="786384" cy="685800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52928" y="2651760"/>
            <a:ext cx="786384" cy="685800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70448" y="1691640"/>
            <a:ext cx="6949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70448" y="3337560"/>
            <a:ext cx="694944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map adds only what the SUM doesn’t need: </a:t>
            </a:r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“Applies to” line, a verify step, and links to troubleshooting.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catalog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CCS function; reader in the last column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188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630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46304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· Start a session · Hand off control · Log 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4630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116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01168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mission · Build a route · Add tasks · Validate · Re-plan in flight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0116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6032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Management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56032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link · Preflight · Launch · Monitor health · Recover · Transfer control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56032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10896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Management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10896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sensor · Set priorities · Route products to consumers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10896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6576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365760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link · Station failover · Emergency recovery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36576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Operator, supervisor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20624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4206240"/>
            <a:ext cx="4709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release · Configure site settings · Back up plans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42062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admin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How-To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guide uses the same seven parts, in the same order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9050">
            <a:solidFill>
              <a:srgbClr val="C9D4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route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verb + object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24528" y="1508760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177393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773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MQ-4C · CCS {version}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773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station, release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24528" y="1956816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22199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221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221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Prerequisites, permissions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24528" y="2404872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0080" y="2670048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… 2. … 3. …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670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one action, one result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24528" y="2852928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" y="3118104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118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know it worked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24528" y="3300984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0080" y="35661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goes wrong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troubleshooting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24528" y="3749040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" y="401421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014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4014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tasks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24528" y="4197096"/>
            <a:ext cx="393192" cy="914"/>
          </a:xfrm>
          <a:prstGeom prst="line">
            <a:avLst/>
          </a:prstGeom>
          <a:noFill/>
          <a:ln w="9525">
            <a:solidFill>
              <a:srgbClr val="56636E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Build a route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 — generic UI, not the actual CCS interface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20640" cy="3337560"/>
          </a:xfrm>
          <a:prstGeom prst="roundRect">
            <a:avLst>
              <a:gd name="adj" fmla="val 16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all platforms · CCS {ccs-version}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mission plan.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 Mission Planning, select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&gt; New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route editor opens on the map.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the map to place each waypoint.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Enter altitude and speed for each leg.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Select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Conflicts appear in red.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Select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shows in the mission tree.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0" y="1188720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261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UI labels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on screen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2039112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1122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results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404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operator should see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2889504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29626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{ccs-version}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2552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key; filled at build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3739896"/>
            <a:ext cx="2834640" cy="731520"/>
          </a:xfrm>
          <a:prstGeom prst="roundRect">
            <a:avLst>
              <a:gd name="adj" fmla="val 75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38130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steps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4105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tasks split in two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rules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How-To usable mid-mission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verb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“Select Save,” not “The Save button should be selected.”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step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actions = two steps. Results go in their own 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before the step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or CAUTION comes before the action it protects, conref’d from the library.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screen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697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labels in bold, spelled and capitalized exactly as displayed.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sparingly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orient; each one costs a re-capture every release.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differences inline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794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differing step with @platform; don’t fork the guide.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guide, three platform builds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tagged step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Route &gt; New.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234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@platform=all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8013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013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waypoints on the map.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8013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@platform=all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94360" y="23682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3682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altitude and airspeed per leg.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3682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5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@platform=mq25 mq4c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94360" y="29352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9352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depth and speed per leg.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935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5B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@platform=uuv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50215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5021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Validate, then Save.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35021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663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@platform=all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123444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1325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MQ-25 build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16276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2, 3a, 4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52160" y="214884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MQ-4C build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25420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2, 3a, 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52160" y="3063240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8932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UUV build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3456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2, 3b, 4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numbers renumber automatically in each build.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Jira story to the station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guide follows the software release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changed feature triggers a doc task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00784" y="2194560"/>
            <a:ext cx="137160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47088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38528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38528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task topic; tag platforms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0672" y="2194560"/>
            <a:ext cx="137160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36976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28416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28416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step on the test 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137160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26864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718304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+ operator sign-off in Jira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70448" y="2194560"/>
            <a:ext cx="137160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16752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08192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08192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baseline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the software release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60336" y="2194560"/>
            <a:ext cx="137160" cy="914"/>
          </a:xfrm>
          <a:prstGeom prst="line">
            <a:avLst/>
          </a:prstGeom>
          <a:noFill/>
          <a:ln w="15875">
            <a:solidFill>
              <a:srgbClr val="18212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06640" y="1463040"/>
            <a:ext cx="1234440" cy="1463040"/>
          </a:xfrm>
          <a:prstGeom prst="roundRect">
            <a:avLst>
              <a:gd name="adj" fmla="val 4444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90195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240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cards ship with the SUM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0EFEE"/>
          </a:solidFill>
          <a:ln w="12700">
            <a:solidFill>
              <a:srgbClr val="0D6B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337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is the step that matters most. </a:t>
            </a:r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How-To that hasn’t been run on the actual build is a guess. Every step is performed on the test build, and every result line matches what the screen really shows, before review.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formats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operators actually meet the guides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E0EFEE"/>
          </a:solidFill>
          <a:ln w="19050">
            <a:solidFill>
              <a:srgbClr val="0D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HTML5 help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on the station, no network or server needed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BACKUP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Printable task cards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 per card, for training and the console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3F6F5"/>
          </a:solidFill>
          <a:ln w="12700">
            <a:solidFill>
              <a:srgbClr val="C9D4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RECORD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compilation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guides in one file, for review and distribution media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BEFDC"/>
          </a:solidFill>
          <a:ln w="12700">
            <a:solidFill>
              <a:srgbClr val="9A5B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37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Markings: </a:t>
            </a:r>
            <a:pPr indent="0" marL="0">
              <a:buNone/>
            </a:pPr>
            <a:r>
              <a:rPr lang="en-US" sz="1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banners and the designation block come from the output templates, so every card and page is marked the same way.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How-To Guides · unclassified, public sources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the program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25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How-To Guides a separate CDRL, or part of the SUM delivery?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325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tasks do operators ask about most? That sets the first 10.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86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writers get time on a test build for walkthroughs?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286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printed task cards allowed at the stations?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off: SMEs, fleet operators, or both?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384048" cy="384048"/>
          </a:xfrm>
          <a:prstGeom prst="ellipse">
            <a:avLst/>
          </a:prstGeom>
          <a:solidFill>
            <a:srgbClr val="8FD3CF"/>
          </a:solidFill>
          <a:ln w="12700">
            <a:solidFill>
              <a:srgbClr val="8FD3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246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guides follow ASD-STE100?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CUI, classified, proprietary, or export-controlled information is contained in this document. Provided as a technical writing sample — Nathan B. Smith.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CCS How-To Guides</dc:title>
  <dc:subject>PptxGenJS Presentation</dc:subject>
  <dc:creator>Nathan B. Smith</dc:creator>
  <cp:lastModifiedBy>Nathan B. Smith</cp:lastModifiedBy>
  <cp:revision>1</cp:revision>
  <dcterms:created xsi:type="dcterms:W3CDTF">2026-09-23T22:16:51Z</dcterms:created>
  <dcterms:modified xsi:type="dcterms:W3CDTF">2026-09-23T22:16:51Z</dcterms:modified>
</cp:coreProperties>
</file>