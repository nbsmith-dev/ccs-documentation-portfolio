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deck: this is an outsider’s overview from public sources. Invite the audience to correct details as we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with sources is deliberate: everything here is traceable and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Feynman version: if every car had a different steering wheel, every driver would need retraining. CCS is the common steering wheel. For writers this is the whole story: most content is shared, a little is platform-specific.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Supporting services sit around these three: dynamic airspace operations, external messaging and comms, and sensor processing/exploitation/dissemination (PED).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maps directly onto a single-source documentation strategy. Shared layers become shared topics and snippets; the adapter layer becomes conditional content. “Future USVs” is illustrative: the Navy has said CCS will be required for USV and UUV programs.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Older sources list Fire Scout as a future CCS platform. The Navy has since retired the MQ-8C (operations ended FY2024, full retirement by end of FY2026). Operators are the primary audience for SUMs and How-To Guides.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what is NOT here: API docs and IETMs are not part of this role’s stated deliverables. The set is operator-facing plus release and requirements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discipline: version numbers must match across the code tag, the CM baseline, the documents, and the media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CUI, authoring and builds run on the program network with the source in on-prem version control. Classified and unclassified content belong in separate projects; filtering is not a security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corrections from anyone who knows the current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FOR TECHNICAL WRITERS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Control System (CCS)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software suite to plan, fly, and manage the Navy’s unmanned vehicles — and what that means for the people who document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B. Smith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 overview drawn from public NAVAIR and trade-press sources. Not an official program product.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CUI, classified, proprietary, or export-controlled information is contained in this document. Provided as a technical writing sample — Nathan B. Smith.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and why it’s here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NAVAIR — CCS product page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910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navair.navy.mil/product/CCS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1371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mission statement, platforms (MQ-25, MQ-4C), open-architecture intent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0299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NAVAIR — CCS first live demonstration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677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navair.navy.mil/node/23331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204825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CCS spans domains: controlled a surrogate LDUUV; names PMA-281 and SSC (now NIWC) Pacific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0662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C4ISRNET — Navy moves closer to CCS (2016)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9443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c4isrnet.com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27249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split of vehicle management, mission management, mission planning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383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Slope — NIWC Pacific SSA award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210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forwardslope.com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34015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NIWC Pacific’s role as the CCS Software Support Activity (sustainment, releases)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8678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0599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AvWeek / FlightGlobal — MQ-8C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297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aviationweek.com · flightglobal.com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407822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older sources: Fire Scout retires by end of FY2026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overview · unclassified, public sources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CCS solves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one control stack per vehicle. After: one common stack, thin adapters.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5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88720" cy="1371600"/>
          </a:xfrm>
          <a:prstGeom prst="roundRect">
            <a:avLst>
              <a:gd name="adj" fmla="val 4615"/>
            </a:avLst>
          </a:prstGeom>
          <a:solidFill>
            <a:srgbClr val="FBEFDC"/>
          </a:solidFill>
          <a:ln w="12700">
            <a:solidFill>
              <a:srgbClr val="9A5B0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737360"/>
            <a:ext cx="1042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UI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planning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vehicle control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83080" y="1645920"/>
            <a:ext cx="1188720" cy="1371600"/>
          </a:xfrm>
          <a:prstGeom prst="roundRect">
            <a:avLst>
              <a:gd name="adj" fmla="val 4615"/>
            </a:avLst>
          </a:prstGeom>
          <a:solidFill>
            <a:srgbClr val="FBEFDC"/>
          </a:solidFill>
          <a:ln w="12700">
            <a:solidFill>
              <a:srgbClr val="9A5B0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56232" y="1737360"/>
            <a:ext cx="1042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UI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planning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vehicle control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83080" y="31546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8308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1645920"/>
            <a:ext cx="1188720" cy="1371600"/>
          </a:xfrm>
          <a:prstGeom prst="roundRect">
            <a:avLst>
              <a:gd name="adj" fmla="val 4615"/>
            </a:avLst>
          </a:prstGeom>
          <a:solidFill>
            <a:srgbClr val="FBEFDC"/>
          </a:solidFill>
          <a:ln w="12700">
            <a:solidFill>
              <a:srgbClr val="9A5B0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82112" y="1737360"/>
            <a:ext cx="1042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UI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planning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vehicle control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0" y="31546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manuals, three trainings, three sets of sailors.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— one UI, one planning tool, one vehicle-management core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65176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BEFDC"/>
          </a:solidFill>
          <a:ln w="12700">
            <a:solidFill>
              <a:srgbClr val="9A5B0F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846320" y="2651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1546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65176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BEFDC"/>
          </a:solidFill>
          <a:ln w="12700">
            <a:solidFill>
              <a:srgbClr val="9A5B0F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6172200" y="2651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31546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265176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BEFDC"/>
          </a:solidFill>
          <a:ln w="12700">
            <a:solidFill>
              <a:srgbClr val="9A5B0F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7498080" y="2651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98080" y="31546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0" y="3154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manual; only the platform-specific parts change.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overview · unclassified, public sources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core jobs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software does — and what operators will need from our documents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0D6B6B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Planning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routes, tasks, and timing; re-plan as things change.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DELIVER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216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planning procedures; worked examples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508760"/>
            <a:ext cx="548640" cy="548640"/>
          </a:xfrm>
          <a:prstGeom prst="ellipse">
            <a:avLst/>
          </a:prstGeom>
          <a:solidFill>
            <a:srgbClr val="0D6B6B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Management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or drive the vehicle; watch status and health.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DELIVER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7216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procedures, alerts and cautions, troubleshooting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3258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508760"/>
            <a:ext cx="548640" cy="548640"/>
          </a:xfrm>
          <a:prstGeom prst="ellipse">
            <a:avLst/>
          </a:prstGeom>
          <a:solidFill>
            <a:srgbClr val="0D6B6B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Management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the sensors; move the data — what to collect, when.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DELIVER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7216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tasking guides; data-flow explanations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overview · unclassified, public sources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 layers, top to bottom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STATIONS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44018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89888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ops center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8820" y="1389888"/>
            <a:ext cx="144018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88820" y="1389888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ship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389888"/>
            <a:ext cx="144018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389888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52060" y="1389888"/>
            <a:ext cx="144018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52060" y="1389888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783080"/>
            <a:ext cx="914" cy="164592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1965960"/>
            <a:ext cx="6035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0D6B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011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2240280"/>
            <a:ext cx="5760720" cy="274320"/>
          </a:xfrm>
          <a:prstGeom prst="roundRect">
            <a:avLst>
              <a:gd name="adj" fmla="val 20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240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user interface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2587752"/>
            <a:ext cx="1859280" cy="329184"/>
          </a:xfrm>
          <a:prstGeom prst="roundRect">
            <a:avLst>
              <a:gd name="adj" fmla="val 16667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587752"/>
            <a:ext cx="185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45080" y="2587752"/>
            <a:ext cx="1859280" cy="329184"/>
          </a:xfrm>
          <a:prstGeom prst="roundRect">
            <a:avLst>
              <a:gd name="adj" fmla="val 16667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45080" y="2587752"/>
            <a:ext cx="185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Mgmt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95800" y="2587752"/>
            <a:ext cx="1859280" cy="329184"/>
          </a:xfrm>
          <a:prstGeom prst="roundRect">
            <a:avLst>
              <a:gd name="adj" fmla="val 16667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95800" y="2587752"/>
            <a:ext cx="185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Mgmt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2990088"/>
            <a:ext cx="5760720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2990088"/>
            <a:ext cx="5760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framework · open architecture · swappable services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0" y="3410712"/>
            <a:ext cx="914" cy="155448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headEnd type="triangl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3584448"/>
            <a:ext cx="6035040" cy="329184"/>
          </a:xfrm>
          <a:prstGeom prst="roundRect">
            <a:avLst>
              <a:gd name="adj" fmla="val 16667"/>
            </a:avLst>
          </a:prstGeom>
          <a:solidFill>
            <a:srgbClr val="FBEFDC"/>
          </a:solidFill>
          <a:ln w="12700">
            <a:solidFill>
              <a:srgbClr val="9A5B0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457200" y="358444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5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adapters — the only layer that changes per vehicle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3941064"/>
            <a:ext cx="914" cy="173736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headEnd type="triangl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7200" y="4133088"/>
            <a:ext cx="144018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133088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88820" y="4133088"/>
            <a:ext cx="144018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88820" y="4133088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MQ-4C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0440" y="4133088"/>
            <a:ext cx="144018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20440" y="4133088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UUVs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52060" y="4133088"/>
            <a:ext cx="144018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52060" y="4133088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USVs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1188720"/>
            <a:ext cx="1965960" cy="3310128"/>
          </a:xfrm>
          <a:prstGeom prst="roundRect">
            <a:avLst>
              <a:gd name="adj" fmla="val 2791"/>
            </a:avLst>
          </a:prstGeom>
          <a:solidFill>
            <a:srgbClr val="0A3F44"/>
          </a:solidFill>
          <a:ln w="12700">
            <a:solidFill>
              <a:srgbClr val="0A3F4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0372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WRITERS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1645920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layers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shared content. Write once, reuse everywhere.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layer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platform-specific content. Isolate it with conditions.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different users and sites; same software.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overview · unclassified, public sources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Platforms and players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CCS, and who builds and sustains 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MQ-25 Stingray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Carrier-based unmanned tanker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31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MQ-4C Triton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87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High-altitude maritime surveillance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08376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81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UUVs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Undersea; CCS demoed on a surrogate LDUUV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58184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BEFDC"/>
          </a:solidFill>
          <a:ln w="12700">
            <a:solidFill>
              <a:srgbClr val="9A5B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831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5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MQ-8C Fire Scout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87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Retiring by end of FY2026 — no longer a CCS growth path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234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50876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1581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PMA-281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8196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NAVAIR program office, Pax River — sets direction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58568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2331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NIWC Pacific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5694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Diego — sustains, releases, and fields the software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008376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0" y="3081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teams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3192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Development, sustainment, CM, and documentation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758184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831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40690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Sailors in control stations — our readers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overview · unclassified, public sources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documentation set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writer on CCS maintains — and what each one actually is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234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NAME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23444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508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1508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System/Software User Manual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operator uses the software, end to end.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5087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020824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0208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 Guide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202082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Task-focused procedures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0208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job, start to finish: “plan a route,” “task a sensor.”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02082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53288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5328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docs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25328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lesson material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25328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the tasks before operators do them for real.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5328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Trainees, instructors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04495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044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30449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Description Document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794760" y="3044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“what’s in this box” for each release: version, changes, known issues.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30449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Sites, CM, sustainment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557016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5570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783080" y="35570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configuration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94760" y="3557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load the release at a site and set it up.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55701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admins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783080" y="4069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Jira requirements DB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79476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issues, status — for decisions on what gets fixed next.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315200" y="4069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leadership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overview · unclassified, public sources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writers sit: the release loop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work on both sides of the build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426464" cy="914400"/>
          </a:xfrm>
          <a:prstGeom prst="roundRect">
            <a:avLst>
              <a:gd name="adj" fmla="val 6000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288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requirements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1284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issues &amp; status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01952" y="2194560"/>
            <a:ext cx="237744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57984" y="1737360"/>
            <a:ext cx="1426464" cy="91440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03704" y="18288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build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03704" y="221284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code, tagged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02736" y="2194560"/>
            <a:ext cx="237744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58768" y="1737360"/>
            <a:ext cx="1426464" cy="914400"/>
          </a:xfrm>
          <a:prstGeom prst="roundRect">
            <a:avLst>
              <a:gd name="adj" fmla="val 6000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04488" y="18288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baseline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04488" y="221284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version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2194560"/>
            <a:ext cx="237744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59552" y="1737360"/>
            <a:ext cx="1426464" cy="914400"/>
          </a:xfrm>
          <a:prstGeom prst="roundRect">
            <a:avLst>
              <a:gd name="adj" fmla="val 6000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18288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package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05272" y="221284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· VDD · media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04304" y="2194560"/>
            <a:ext cx="237744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60336" y="1737360"/>
            <a:ext cx="1426464" cy="91440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06056" y="18288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06056" y="221284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73568" y="2651760"/>
            <a:ext cx="914" cy="411480"/>
          </a:xfrm>
          <a:prstGeom prst="line">
            <a:avLst/>
          </a:prstGeom>
          <a:noFill/>
          <a:ln w="15875">
            <a:solidFill>
              <a:srgbClr val="56636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170432" y="3063240"/>
            <a:ext cx="6803136" cy="914"/>
          </a:xfrm>
          <a:prstGeom prst="line">
            <a:avLst/>
          </a:prstGeom>
          <a:noFill/>
          <a:ln w="15875">
            <a:solidFill>
              <a:srgbClr val="56636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V="1">
            <a:off x="1170432" y="2670048"/>
            <a:ext cx="914" cy="393192"/>
          </a:xfrm>
          <a:prstGeom prst="line">
            <a:avLst/>
          </a:prstGeom>
          <a:noFill/>
          <a:ln w="15875">
            <a:solidFill>
              <a:srgbClr val="56636E"/>
            </a:solidFill>
            <a:prstDash val="dash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28600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feedback → new issues and requirements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73075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the writer’s steps.  </a:t>
            </a:r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in, keep requirements and issues accurate so reports are trustworthy. Coming out, make sure the SUM, VDD, and media label all carry the same version as the CM baseline.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overview · unclassified, public sources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constraints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architecture turns into a single-source authoring setup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authoring (DITA)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276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Topic-based source on the program network; no cloud services under CUI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259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991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Confluence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734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issues, status reports, working drafts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44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CM system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192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project under the same baseline and tags as the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1762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8907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media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650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Package, mark, and transmit media per site SOP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4023360" cy="3246120"/>
          </a:xfrm>
          <a:prstGeom prst="roundRect">
            <a:avLst>
              <a:gd name="adj" fmla="val 1690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FEATURE → CCS USE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783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MQ-25 vs. Triton content in one project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3134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3134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version in one place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84378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reuse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8437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warnings, common UI steps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3741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templates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3741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banners and designation block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9044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targets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9044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as PDF, How-Tos as offline HTML5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overview · unclassified, public sources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core, thin edges.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64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CCS content is shared; only the adapter layer is platform-specific.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411480" cy="411480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= content strategy.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41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layers become reusable topics; platforms become filtering attributes.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must match.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18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tag, CM baseline, SUM, VDD, and media label all agree.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 operators.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95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Sailors in control stations are the reader; procedures beat descriptions.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CUI, classified, proprietary, or export-controlled information is contained in this document. Provided as a technical writing sample — Nathan B. Smith.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Control System (CCS) — Overview for Technical Writers</dc:title>
  <dc:subject>PptxGenJS Presentation</dc:subject>
  <dc:creator>Nathan B. Smith</dc:creator>
  <cp:lastModifiedBy>Nathan B. Smith</cp:lastModifiedBy>
  <cp:revision>1</cp:revision>
  <dcterms:created xsi:type="dcterms:W3CDTF">2026-09-23T22:16:50Z</dcterms:created>
  <dcterms:modified xsi:type="dcterms:W3CDTF">2026-09-23T22:16:51Z</dcterms:modified>
</cp:coreProperties>
</file>